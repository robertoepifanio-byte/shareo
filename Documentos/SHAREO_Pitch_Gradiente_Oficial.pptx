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SHAREO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FF7800"/>
                </a:solidFill>
              </a:rPr>
              <a:t>USE MAIS. POSSUA MENOS.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F0080"/>
          </a:solidFill>
          <a:ln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(2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1072977"/>
            <a:ext cx="6334125" cy="47120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800"/>
                </a:solidFill>
                <a:latin typeface="Montserrat"/>
              </a:rPr>
              <a:t>Visão Geral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F7800"/>
          </a:solidFill>
          <a:ln>
            <a:solidFill>
              <a:srgbClr val="FF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82B1D37-158C-4A0C-A679-BC5CAE0000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9075" y="1348707"/>
            <a:ext cx="862995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SHARE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O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Case / Business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Concept</a:t>
            </a: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>“Use Mais. Possua Menos.”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Visão Geral do Projeto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 SHARE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é uma plataforma digital de economia circular criada para conectar pessoas e empresas que possuem ativos subutilizados com usuários que precisam utilizar esses itens temporariamente.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O conceito central é simples: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Em vez de comprar para usar poucas vezes ao ano, o usuário pode localizar e alugar um item próximo de sua localização por uma fração do valor de compra.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Ao mesmo tempo, proprietários de itens pouco utilizados conseguem gerar renda recorrente com bens que normalmente ficariam parados em garagens, depósitos, closets ou estoques.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accent6"/>
                </a:solidFill>
              </a:rPr>
              <a:t>O projeto promove</a:t>
            </a:r>
            <a:br>
              <a:rPr lang="pt-BR" sz="2800" dirty="0">
                <a:solidFill>
                  <a:schemeClr val="accent6"/>
                </a:solidFill>
              </a:rPr>
            </a:br>
            <a:endParaRPr sz="2800" b="1" dirty="0">
              <a:solidFill>
                <a:srgbClr val="FFD200"/>
              </a:solidFill>
              <a:latin typeface="Montserra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Redução do consumo excessivo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Menor impacto ambiental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Geração de renda complementar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Aproveitamento inteligente de ativos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Economia compartilhada local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Fortalecimento da economia circular</a:t>
            </a:r>
          </a:p>
          <a:p>
            <a:endParaRPr sz="200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FD200"/>
          </a:solidFill>
          <a:ln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>
                <a:solidFill>
                  <a:schemeClr val="accent6"/>
                </a:solidFill>
              </a:rPr>
              <a:t>Slogan Conceitual</a:t>
            </a:r>
            <a:endParaRPr sz="4000" b="1" dirty="0">
              <a:solidFill>
                <a:schemeClr val="accent6"/>
              </a:solidFill>
              <a:latin typeface="Montserra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300" b="1" dirty="0">
                <a:solidFill>
                  <a:schemeClr val="bg1"/>
                </a:solidFill>
              </a:rPr>
              <a:t>   “Use Mais. Possua Menos.”</a:t>
            </a:r>
          </a:p>
          <a:p>
            <a:pPr marL="0" indent="0">
              <a:buNone/>
            </a:pPr>
            <a:endParaRPr lang="pt-BR" sz="33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pt-BR" sz="3300" dirty="0">
                <a:solidFill>
                  <a:schemeClr val="accent6"/>
                </a:solidFill>
              </a:rPr>
              <a:t>Outras variações possíveis:</a:t>
            </a:r>
            <a:endParaRPr lang="pt-BR" sz="33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“Tudo o que você precisa. Sem precisar comprar.”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“Transforme o que está parado em renda.”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“Alugue perto. Economize mais.”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“A nova forma inteligente de consumir.”</a:t>
            </a:r>
          </a:p>
          <a:p>
            <a:endParaRPr sz="200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78FF00"/>
          </a:solidFill>
          <a:ln>
            <a:solidFill>
              <a:srgbClr val="7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326"/>
            <a:ext cx="8229600" cy="5811838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accent6"/>
                </a:solidFill>
              </a:rPr>
              <a:t>Problema que o SHARE</a:t>
            </a:r>
            <a:r>
              <a:rPr lang="pt-BR" sz="2800" b="1" dirty="0">
                <a:solidFill>
                  <a:srgbClr val="92D050"/>
                </a:solidFill>
              </a:rPr>
              <a:t>O </a:t>
            </a:r>
            <a:r>
              <a:rPr lang="pt-BR" sz="2800" b="1" dirty="0">
                <a:solidFill>
                  <a:schemeClr val="accent6"/>
                </a:solidFill>
              </a:rPr>
              <a:t>Resolve</a:t>
            </a:r>
          </a:p>
          <a:p>
            <a:endParaRPr lang="pt-BR" sz="1200" dirty="0">
              <a:solidFill>
                <a:schemeClr val="bg1"/>
              </a:solidFill>
            </a:endParaRPr>
          </a:p>
          <a:p>
            <a:endParaRPr lang="pt-BR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2000" dirty="0">
                <a:solidFill>
                  <a:schemeClr val="accent6"/>
                </a:solidFill>
              </a:rPr>
              <a:t>Milhões de pessoas possuem objetos caros que utilizam poucas vezes por ano.</a:t>
            </a:r>
          </a:p>
          <a:p>
            <a:pPr marL="0" indent="0">
              <a:buNone/>
            </a:pPr>
            <a:endParaRPr lang="pt-BR" sz="1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Furadeiras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Lavadoras de alta pressão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Moto serras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Escadas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Ferramentas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Equipamentos esportivos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Vestidos e roupas especiais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Equipamentos para festas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Secadores profissionais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Máquinas diversas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Equipamentos eletrônicos </a:t>
            </a:r>
          </a:p>
          <a:p>
            <a:pPr marL="0" indent="0">
              <a:buNone/>
            </a:pPr>
            <a:endParaRPr lang="pt-BR" sz="19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pt-BR" sz="2100" dirty="0">
                <a:solidFill>
                  <a:schemeClr val="accent6"/>
                </a:solidFill>
              </a:rPr>
              <a:t>Enquanto isso:</a:t>
            </a:r>
          </a:p>
          <a:p>
            <a:pPr marL="0" indent="0">
              <a:buNone/>
            </a:pPr>
            <a:endParaRPr lang="pt-BR" sz="1900" dirty="0">
              <a:solidFill>
                <a:schemeClr val="accent6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outras pessoas precisam desses itens temporariamente;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compram novos produtos;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utilizam poucas vezes;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geram desperdício financeiro e ambiental. </a:t>
            </a:r>
          </a:p>
          <a:p>
            <a:pPr marL="0" indent="0">
              <a:buNone/>
            </a:pPr>
            <a:endParaRPr lang="pt-BR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2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2600" dirty="0">
                <a:solidFill>
                  <a:schemeClr val="bg1"/>
                </a:solidFill>
              </a:rPr>
              <a:t>O SHARE</a:t>
            </a:r>
            <a:r>
              <a:rPr lang="pt-BR" sz="2600" dirty="0">
                <a:solidFill>
                  <a:srgbClr val="92D050"/>
                </a:solidFill>
              </a:rPr>
              <a:t>O</a:t>
            </a:r>
            <a:r>
              <a:rPr lang="pt-BR" sz="2600" dirty="0">
                <a:solidFill>
                  <a:schemeClr val="bg1"/>
                </a:solidFill>
              </a:rPr>
              <a:t> conecta essas duas pontas.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F0080"/>
          </a:solidFill>
          <a:ln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pt-BR" sz="1200" b="1" dirty="0"/>
              <a:t>Funcionamento do Aplicativo</a:t>
            </a:r>
            <a:endParaRPr lang="pt-BR" sz="20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pt-BR" sz="2800" b="1" dirty="0">
                <a:solidFill>
                  <a:schemeClr val="accent6"/>
                </a:solidFill>
              </a:rPr>
              <a:t>Fluxo Básico do Usuário</a:t>
            </a:r>
          </a:p>
          <a:p>
            <a:pPr marL="0" indent="0">
              <a:buNone/>
            </a:pPr>
            <a:r>
              <a:rPr lang="pt-BR" sz="2000" b="1" dirty="0">
                <a:solidFill>
                  <a:schemeClr val="bg1"/>
                </a:solidFill>
              </a:rPr>
              <a:t>      </a:t>
            </a:r>
            <a:r>
              <a:rPr lang="pt-BR" sz="2000" b="1" dirty="0">
                <a:solidFill>
                  <a:schemeClr val="accent6"/>
                </a:solidFill>
              </a:rPr>
              <a:t>1. Cadastro</a:t>
            </a:r>
          </a:p>
          <a:p>
            <a:pPr marL="0" indent="0">
              <a:buNone/>
            </a:pPr>
            <a:endParaRPr lang="pt-BR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2000" dirty="0">
                <a:solidFill>
                  <a:schemeClr val="bg1"/>
                </a:solidFill>
              </a:rPr>
              <a:t>      O usuário baixa o aplicativo e realiza cadastro como:</a:t>
            </a:r>
          </a:p>
          <a:p>
            <a:pPr marL="0" indent="0">
              <a:buNone/>
            </a:pPr>
            <a:endParaRPr lang="pt-BR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Pessoa Física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Pessoa Jurídica </a:t>
            </a:r>
          </a:p>
          <a:p>
            <a:r>
              <a:rPr lang="pt-BR" sz="2000" dirty="0">
                <a:solidFill>
                  <a:schemeClr val="bg1"/>
                </a:solidFill>
              </a:rPr>
              <a:t>Validações: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CPF/CNPJ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Telefone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E-mail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Endereço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Geolocalização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Foto/documento (opcional para segurança)</a:t>
            </a:r>
          </a:p>
          <a:p>
            <a:endParaRPr sz="200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F7800"/>
          </a:solidFill>
          <a:ln>
            <a:solidFill>
              <a:srgbClr val="FF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000" b="1" dirty="0">
                <a:solidFill>
                  <a:schemeClr val="accent6"/>
                </a:solidFill>
              </a:rPr>
              <a:t>2. Publicação de Itens</a:t>
            </a:r>
          </a:p>
          <a:p>
            <a:endParaRPr lang="pt-BR" sz="2000" b="1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O proprietário cadastra um item disponível para locação.</a:t>
            </a:r>
          </a:p>
          <a:p>
            <a:pPr marL="0" indent="0">
              <a:buNone/>
            </a:pPr>
            <a:endParaRPr lang="pt-BR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chemeClr val="bg1"/>
                </a:solidFill>
              </a:rPr>
              <a:t>Informações do anúncio:</a:t>
            </a:r>
          </a:p>
          <a:p>
            <a:pPr marL="0" indent="0">
              <a:buNone/>
            </a:pPr>
            <a:endParaRPr lang="pt-BR" sz="20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Fotos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Categoria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Descrição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Valor da diária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Valor semanal/mensal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Regras de uso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Caução (opcional)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Disponibilidade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Necessidade de seguro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Endereço de retirada</a:t>
            </a:r>
          </a:p>
          <a:p>
            <a:endParaRPr sz="200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FD200"/>
          </a:solidFill>
          <a:ln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9550"/>
            <a:ext cx="8229600" cy="62103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6"/>
                </a:solidFill>
              </a:rPr>
              <a:t>Categorias do Marketplace</a:t>
            </a:r>
          </a:p>
          <a:p>
            <a:pPr marL="0" indent="0">
              <a:buNone/>
            </a:pPr>
            <a:endParaRPr lang="pt-BR" sz="1800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pt-BR" sz="1800" b="1" dirty="0">
                <a:solidFill>
                  <a:schemeClr val="accent6"/>
                </a:solidFill>
              </a:rPr>
              <a:t>Ferramentas</a:t>
            </a:r>
          </a:p>
          <a:p>
            <a:pPr marL="0" indent="0">
              <a:buNone/>
            </a:pPr>
            <a:endParaRPr lang="pt-BR" sz="12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Furadeiras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Marteletes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 err="1">
                <a:solidFill>
                  <a:schemeClr val="bg1"/>
                </a:solidFill>
              </a:rPr>
              <a:t>Parafusadeiras</a:t>
            </a:r>
            <a:r>
              <a:rPr lang="pt-BR" sz="1600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Moto serras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Escadas </a:t>
            </a:r>
          </a:p>
          <a:p>
            <a:pPr marL="0" indent="0">
              <a:buNone/>
            </a:pPr>
            <a:endParaRPr lang="pt-BR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1800" b="1" dirty="0">
                <a:solidFill>
                  <a:schemeClr val="accent6"/>
                </a:solidFill>
              </a:rPr>
              <a:t>Construção Civil</a:t>
            </a:r>
          </a:p>
          <a:p>
            <a:pPr marL="0" indent="0">
              <a:buNone/>
            </a:pPr>
            <a:endParaRPr lang="pt-BR" sz="12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Compactadores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Andaimes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</a:rPr>
              <a:t>Lavadoras de alta pressão </a:t>
            </a:r>
          </a:p>
          <a:p>
            <a:pPr marL="0" indent="0">
              <a:buNone/>
            </a:pPr>
            <a:endParaRPr lang="pt-BR" sz="1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1800" b="1" dirty="0">
                <a:solidFill>
                  <a:schemeClr val="accent6"/>
                </a:solidFill>
              </a:rPr>
              <a:t>Moda</a:t>
            </a:r>
          </a:p>
          <a:p>
            <a:pPr marL="0" indent="0">
              <a:buNone/>
            </a:pPr>
            <a:endParaRPr lang="pt-BR" sz="12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Vestidos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Ternos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Fantasias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Bolsas </a:t>
            </a:r>
          </a:p>
          <a:p>
            <a:pPr marL="0" indent="0">
              <a:buNone/>
            </a:pPr>
            <a:endParaRPr sz="200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78FF00"/>
          </a:solidFill>
          <a:ln>
            <a:solidFill>
              <a:srgbClr val="7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2900"/>
            <a:ext cx="8229600" cy="5783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>
                <a:solidFill>
                  <a:schemeClr val="accent6"/>
                </a:solidFill>
              </a:rPr>
              <a:t>Eletrônicos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Caixas de som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Projetores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Câmeras </a:t>
            </a:r>
          </a:p>
          <a:p>
            <a:pPr marL="0" indent="0">
              <a:buNone/>
            </a:pPr>
            <a:endParaRPr lang="pt-BR" sz="2000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chemeClr val="accent6"/>
                </a:solidFill>
              </a:rPr>
              <a:t>Casa e Jardim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Aspiradores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Cortadores de grama </a:t>
            </a:r>
          </a:p>
          <a:p>
            <a:pPr marL="0" indent="0">
              <a:buNone/>
            </a:pPr>
            <a:endParaRPr lang="pt-BR" sz="2000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chemeClr val="accent6"/>
                </a:solidFill>
              </a:rPr>
              <a:t>Esporte e Lazer</a:t>
            </a:r>
          </a:p>
          <a:p>
            <a:pPr marL="0" indent="0">
              <a:buNone/>
            </a:pPr>
            <a:endParaRPr lang="pt-BR" sz="2000" b="1" dirty="0">
              <a:solidFill>
                <a:schemeClr val="accent6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Bicicletas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Caiaques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Barracas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Pranchas</a:t>
            </a:r>
          </a:p>
          <a:p>
            <a:endParaRPr sz="200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FF0080"/>
          </a:solidFill>
          <a:ln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Busca Inteligente por Proximidade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78FF00"/>
          </a:solidFill>
          <a:ln>
            <a:solidFill>
              <a:srgbClr val="7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CDC7E01-842B-49E2-8CA9-51B7D01BBE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6725" y="1417638"/>
            <a:ext cx="771525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0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O diferencial do SHAREO é a busca geográfica inteligente.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 aplicativo mostra primeiro: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itens mais próximos do usuário;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menor custo logístico;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retirada mais rápida;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redução do deslocamento urbano.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“Encontramos 4 furadeiras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disponíveis em até 2 km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você.”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4537"/>
          </a:xfr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Busca Inteligente por Proximidade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78FF00"/>
          </a:solidFill>
          <a:ln>
            <a:solidFill>
              <a:srgbClr val="7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CDC7E01-842B-49E2-8CA9-51B7D01BBE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6725" y="1200805"/>
            <a:ext cx="7943850" cy="5490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pt-BR" sz="2000" b="1" dirty="0">
                <a:solidFill>
                  <a:schemeClr val="accent6"/>
                </a:solidFill>
              </a:rPr>
              <a:t>Passo a Passo</a:t>
            </a:r>
          </a:p>
          <a:p>
            <a:r>
              <a:rPr lang="pt-BR" sz="1600" b="1" dirty="0">
                <a:solidFill>
                  <a:schemeClr val="bg1"/>
                </a:solidFill>
              </a:rPr>
              <a:t>Usuário seleciona o item</a:t>
            </a:r>
          </a:p>
          <a:p>
            <a:r>
              <a:rPr lang="pt-BR" sz="1600" dirty="0">
                <a:solidFill>
                  <a:schemeClr val="bg1"/>
                </a:solidFill>
              </a:rPr>
              <a:t>↓</a:t>
            </a:r>
          </a:p>
          <a:p>
            <a:r>
              <a:rPr lang="pt-BR" sz="1600" b="1" dirty="0">
                <a:solidFill>
                  <a:schemeClr val="bg1"/>
                </a:solidFill>
              </a:rPr>
              <a:t>Visualiza: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preço;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distância;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avaliação do proprietário;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condições;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seguro disponível. </a:t>
            </a:r>
          </a:p>
          <a:p>
            <a:r>
              <a:rPr lang="pt-BR" sz="1600" dirty="0">
                <a:solidFill>
                  <a:schemeClr val="bg1"/>
                </a:solidFill>
              </a:rPr>
              <a:t>↓</a:t>
            </a:r>
          </a:p>
          <a:p>
            <a:r>
              <a:rPr lang="pt-BR" sz="1600" b="1" dirty="0">
                <a:solidFill>
                  <a:schemeClr val="bg1"/>
                </a:solidFill>
              </a:rPr>
              <a:t>Contato via WhatsApp integrado</a:t>
            </a:r>
          </a:p>
          <a:p>
            <a:r>
              <a:rPr lang="pt-BR" sz="1600" dirty="0">
                <a:solidFill>
                  <a:schemeClr val="bg1"/>
                </a:solidFill>
              </a:rPr>
              <a:t>O aplicativo direciona o usuário para o WhatsApp do proprietário.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accent6"/>
                </a:solidFill>
              </a:rPr>
              <a:t>Objetivo: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combinar horário;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confirmar disponibilidade;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alinhar detalhes da retirada.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0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720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4537"/>
          </a:xfrm>
        </p:spPr>
        <p:txBody>
          <a:bodyPr>
            <a:normAutofit fontScale="90000"/>
          </a:bodyPr>
          <a:lstStyle/>
          <a:p>
            <a:r>
              <a:rPr lang="pt-BR" sz="1100" b="1" dirty="0"/>
              <a:t>Política de Segurança</a:t>
            </a:r>
            <a:br>
              <a:rPr lang="pt-BR" sz="1100" b="1" dirty="0"/>
            </a:br>
            <a:r>
              <a:rPr lang="pt-BR" sz="1100" dirty="0"/>
              <a:t>Por segurança:</a:t>
            </a:r>
            <a:br>
              <a:rPr lang="pt-BR" sz="1100" dirty="0"/>
            </a:br>
            <a:r>
              <a:rPr lang="pt-BR" sz="1100" b="1" dirty="0"/>
              <a:t>A retirada deve ocorrer preferencialmente:</a:t>
            </a:r>
            <a:br>
              <a:rPr lang="pt-BR" sz="1100" b="1" dirty="0"/>
            </a:br>
            <a:r>
              <a:rPr lang="pt-BR" sz="1100" dirty="0"/>
              <a:t>no endereço cadastrado no sistema; </a:t>
            </a:r>
            <a:br>
              <a:rPr lang="pt-BR" sz="1100" dirty="0"/>
            </a:br>
            <a:r>
              <a:rPr lang="pt-BR" sz="2400" b="1" dirty="0">
                <a:solidFill>
                  <a:schemeClr val="accent6"/>
                </a:solidFill>
              </a:rPr>
              <a:t>Política de Segurança</a:t>
            </a:r>
            <a:br>
              <a:rPr lang="pt-BR" sz="2400" b="1" dirty="0">
                <a:solidFill>
                  <a:schemeClr val="bg1"/>
                </a:solidFill>
              </a:rPr>
            </a:br>
            <a:br>
              <a:rPr lang="pt-BR" sz="2200" dirty="0">
                <a:solidFill>
                  <a:schemeClr val="accent6"/>
                </a:solidFill>
              </a:rPr>
            </a:br>
            <a:r>
              <a:rPr lang="pt-BR" sz="1100" dirty="0"/>
              <a:t>golpes; </a:t>
            </a:r>
            <a:br>
              <a:rPr lang="pt-BR" sz="1100" dirty="0"/>
            </a:br>
            <a:r>
              <a:rPr lang="pt-BR" sz="1100" dirty="0"/>
              <a:t>desvios de finalidade; </a:t>
            </a:r>
            <a:br>
              <a:rPr lang="pt-BR" sz="1100" dirty="0"/>
            </a:br>
            <a:r>
              <a:rPr lang="pt-BR" sz="1100" dirty="0"/>
              <a:t>riscos de furto; </a:t>
            </a:r>
            <a:br>
              <a:rPr lang="pt-BR" sz="1100" dirty="0"/>
            </a:br>
            <a:r>
              <a:rPr lang="pt-BR" sz="1100" dirty="0"/>
              <a:t>falsidade cadastral.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78FF00"/>
          </a:solidFill>
          <a:ln>
            <a:solidFill>
              <a:srgbClr val="7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CDC7E01-842B-49E2-8CA9-51B7D01BBE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49" y="1051156"/>
            <a:ext cx="7781925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pt-BR" sz="2000" dirty="0">
                <a:solidFill>
                  <a:schemeClr val="accent6"/>
                </a:solidFill>
              </a:rPr>
              <a:t>Por segurança:</a:t>
            </a:r>
          </a:p>
          <a:p>
            <a:pPr marL="0" indent="0">
              <a:buNone/>
            </a:pPr>
            <a:endParaRPr lang="pt-B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chemeClr val="accent6"/>
                </a:solidFill>
              </a:rPr>
              <a:t>A retirada deve ocorrer preferencialmente: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 endereço cadastrado no sistema; </a:t>
            </a:r>
          </a:p>
          <a:p>
            <a:pPr marL="0" indent="0">
              <a:buNone/>
            </a:pPr>
            <a:endParaRPr lang="pt-B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2000" dirty="0">
                <a:solidFill>
                  <a:schemeClr val="accent6"/>
                </a:solidFill>
              </a:rPr>
              <a:t>Isso reduz:</a:t>
            </a:r>
          </a:p>
          <a:p>
            <a:pPr marL="0" indent="0">
              <a:buNone/>
            </a:pPr>
            <a:endParaRPr lang="pt-BR" sz="2000" dirty="0">
              <a:solidFill>
                <a:schemeClr val="accent6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golpes;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desvios de finalidade;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riscos de furto;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falsidade cadastral.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01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4537"/>
          </a:xfrm>
        </p:spPr>
        <p:txBody>
          <a:bodyPr>
            <a:normAutofit fontScale="90000"/>
          </a:bodyPr>
          <a:lstStyle/>
          <a:p>
            <a:r>
              <a:rPr lang="pt-BR" sz="1100" b="1" dirty="0"/>
              <a:t>Política de Segurança</a:t>
            </a:r>
            <a:br>
              <a:rPr lang="pt-BR" sz="1100" b="1" dirty="0"/>
            </a:br>
            <a:r>
              <a:rPr lang="pt-BR" sz="1100" dirty="0"/>
              <a:t>Por segurança:</a:t>
            </a:r>
            <a:br>
              <a:rPr lang="pt-BR" sz="1100" dirty="0"/>
            </a:br>
            <a:r>
              <a:rPr lang="pt-BR" sz="1100" b="1" dirty="0"/>
              <a:t>A retirada deve ocorrer preferencialmente:</a:t>
            </a:r>
            <a:br>
              <a:rPr lang="pt-BR" sz="1100" b="1" dirty="0"/>
            </a:br>
            <a:r>
              <a:rPr lang="pt-BR" sz="1100" dirty="0"/>
              <a:t>no endereço cadastrado no sistema; </a:t>
            </a:r>
            <a:br>
              <a:rPr lang="pt-BR" sz="1100" dirty="0"/>
            </a:br>
            <a:r>
              <a:rPr lang="pt-BR" sz="2400" b="1" dirty="0">
                <a:solidFill>
                  <a:schemeClr val="accent6"/>
                </a:solidFill>
              </a:rPr>
              <a:t>Sistema de Seguro</a:t>
            </a:r>
            <a:br>
              <a:rPr lang="pt-BR" sz="2400" b="1" dirty="0">
                <a:solidFill>
                  <a:schemeClr val="bg1"/>
                </a:solidFill>
              </a:rPr>
            </a:br>
            <a:br>
              <a:rPr lang="pt-BR" sz="2200" dirty="0">
                <a:solidFill>
                  <a:schemeClr val="accent6"/>
                </a:solidFill>
              </a:rPr>
            </a:br>
            <a:r>
              <a:rPr lang="pt-BR" sz="1100" dirty="0"/>
              <a:t>golpes; </a:t>
            </a:r>
            <a:br>
              <a:rPr lang="pt-BR" sz="1100" dirty="0"/>
            </a:br>
            <a:r>
              <a:rPr lang="pt-BR" sz="1100" dirty="0"/>
              <a:t>desvios de finalidade; </a:t>
            </a:r>
            <a:br>
              <a:rPr lang="pt-BR" sz="1100" dirty="0"/>
            </a:br>
            <a:r>
              <a:rPr lang="pt-BR" sz="1100" dirty="0"/>
              <a:t>riscos de furto; </a:t>
            </a:r>
            <a:br>
              <a:rPr lang="pt-BR" sz="1100" dirty="0"/>
            </a:br>
            <a:r>
              <a:rPr lang="pt-BR" sz="1100" dirty="0"/>
              <a:t>falsidade cadastral.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78FF00"/>
          </a:solidFill>
          <a:ln>
            <a:solidFill>
              <a:srgbClr val="7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CDC7E01-842B-49E2-8CA9-51B7D01BBE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49" y="497158"/>
            <a:ext cx="7781925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pt-BR" sz="20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pt-BR" sz="2000" dirty="0">
                <a:solidFill>
                  <a:schemeClr val="accent6"/>
                </a:solidFill>
              </a:rPr>
              <a:t>Itens de maior valor poderão ter seguro opcional.</a:t>
            </a:r>
          </a:p>
          <a:p>
            <a:pPr marL="0" indent="0">
              <a:buNone/>
            </a:pPr>
            <a:endParaRPr lang="pt-BR" sz="20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chemeClr val="accent6"/>
                </a:solidFill>
              </a:rPr>
              <a:t>Coberturas: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danos;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quebra;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roubo;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extravio. 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pt-BR" sz="2000" dirty="0">
                <a:solidFill>
                  <a:schemeClr val="accent6"/>
                </a:solidFill>
              </a:rPr>
              <a:t>O seguro poderá ser:</a:t>
            </a:r>
          </a:p>
          <a:p>
            <a:pPr marL="0" indent="0">
              <a:buNone/>
            </a:pPr>
            <a:endParaRPr lang="pt-BR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contratado pelo locatário;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obrigatório em itens premium;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integrado via seguradoras parceiras.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51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4537"/>
          </a:xfrm>
        </p:spPr>
        <p:txBody>
          <a:bodyPr>
            <a:normAutofit fontScale="90000"/>
          </a:bodyPr>
          <a:lstStyle/>
          <a:p>
            <a:r>
              <a:rPr lang="pt-BR" sz="1100" b="1" dirty="0"/>
              <a:t>Política de Segurança</a:t>
            </a:r>
            <a:br>
              <a:rPr lang="pt-BR" sz="1100" b="1" dirty="0"/>
            </a:br>
            <a:r>
              <a:rPr lang="pt-BR" sz="1100" dirty="0"/>
              <a:t>Por segurança:</a:t>
            </a:r>
            <a:br>
              <a:rPr lang="pt-BR" sz="1100" dirty="0"/>
            </a:br>
            <a:r>
              <a:rPr lang="pt-BR" sz="1100" b="1" dirty="0"/>
              <a:t>A retirada deve ocorrer preferencialmente:</a:t>
            </a:r>
            <a:br>
              <a:rPr lang="pt-BR" sz="1100" b="1" dirty="0"/>
            </a:br>
            <a:r>
              <a:rPr lang="pt-BR" sz="1100" dirty="0"/>
              <a:t>no endereço cadastrado no sistema; </a:t>
            </a:r>
            <a:br>
              <a:rPr lang="pt-BR" sz="1100" dirty="0"/>
            </a:br>
            <a:br>
              <a:rPr lang="pt-BR" sz="1100" dirty="0"/>
            </a:br>
            <a:br>
              <a:rPr lang="pt-BR" sz="1100" dirty="0"/>
            </a:br>
            <a:br>
              <a:rPr lang="pt-BR" sz="1100" dirty="0"/>
            </a:br>
            <a:r>
              <a:rPr lang="pt-BR" sz="2400" b="1" dirty="0">
                <a:solidFill>
                  <a:schemeClr val="accent6"/>
                </a:solidFill>
              </a:rPr>
              <a:t>Modelo de Negócio</a:t>
            </a:r>
            <a:br>
              <a:rPr lang="pt-BR" sz="2400" b="1" dirty="0">
                <a:solidFill>
                  <a:schemeClr val="bg1"/>
                </a:solidFill>
              </a:rPr>
            </a:br>
            <a:br>
              <a:rPr lang="pt-BR" sz="2400" b="1" dirty="0">
                <a:solidFill>
                  <a:schemeClr val="bg1"/>
                </a:solidFill>
              </a:rPr>
            </a:br>
            <a:br>
              <a:rPr lang="pt-BR" sz="2200" dirty="0">
                <a:solidFill>
                  <a:schemeClr val="accent6"/>
                </a:solidFill>
              </a:rPr>
            </a:br>
            <a:r>
              <a:rPr lang="pt-BR" sz="1100" dirty="0"/>
              <a:t>golpes; </a:t>
            </a:r>
            <a:br>
              <a:rPr lang="pt-BR" sz="1100" dirty="0"/>
            </a:br>
            <a:r>
              <a:rPr lang="pt-BR" sz="1100" dirty="0"/>
              <a:t>desvios de finalidade; </a:t>
            </a:r>
            <a:br>
              <a:rPr lang="pt-BR" sz="1100" dirty="0"/>
            </a:br>
            <a:r>
              <a:rPr lang="pt-BR" sz="1100" dirty="0"/>
              <a:t>riscos de furto; </a:t>
            </a:r>
            <a:br>
              <a:rPr lang="pt-BR" sz="1100" dirty="0"/>
            </a:br>
            <a:r>
              <a:rPr lang="pt-BR" sz="1100" dirty="0"/>
              <a:t>falsidade cadastral.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78FF00"/>
          </a:solidFill>
          <a:ln>
            <a:solidFill>
              <a:srgbClr val="7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spaço Reservado para Conteúdo 19">
            <a:extLst>
              <a:ext uri="{FF2B5EF4-FFF2-40B4-BE49-F238E27FC236}">
                <a16:creationId xmlns:a16="http://schemas.microsoft.com/office/drawing/2014/main" id="{1D6CE313-F203-4DF1-8834-73E6268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19174"/>
            <a:ext cx="8229600" cy="54768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000" b="1" dirty="0">
                <a:solidFill>
                  <a:schemeClr val="accent6"/>
                </a:solidFill>
              </a:rPr>
              <a:t>Fontes de Receita</a:t>
            </a:r>
          </a:p>
          <a:p>
            <a:pPr marL="0" indent="0">
              <a:buNone/>
            </a:pPr>
            <a:endParaRPr lang="pt-BR" sz="2000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chemeClr val="accent6"/>
                </a:solidFill>
              </a:rPr>
              <a:t>Comissão por locação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bg1"/>
                </a:solidFill>
              </a:rPr>
              <a:t>  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20% a 30% sobre cada transação.</a:t>
            </a:r>
            <a:endParaRPr lang="pt-BR" sz="2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2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2200" b="1" dirty="0">
                <a:solidFill>
                  <a:schemeClr val="accent6"/>
                </a:solidFill>
              </a:rPr>
              <a:t>Seguro</a:t>
            </a:r>
          </a:p>
          <a:p>
            <a:pPr marL="0" indent="0">
              <a:buNone/>
            </a:pPr>
            <a:endParaRPr lang="pt-BR" sz="2200" b="1" dirty="0">
              <a:solidFill>
                <a:schemeClr val="accent6"/>
              </a:solidFill>
            </a:endParaRPr>
          </a:p>
          <a:p>
            <a:r>
              <a:rPr lang="pt-BR" sz="2200" dirty="0">
                <a:solidFill>
                  <a:schemeClr val="bg1"/>
                </a:solidFill>
              </a:rPr>
              <a:t>Comissão sobre venda de seguro.</a:t>
            </a:r>
          </a:p>
          <a:p>
            <a:r>
              <a:rPr lang="pt-BR" sz="2200" b="1" dirty="0">
                <a:solidFill>
                  <a:schemeClr val="bg1"/>
                </a:solidFill>
              </a:rPr>
              <a:t>Destaque de anúncios</a:t>
            </a:r>
          </a:p>
          <a:p>
            <a:endParaRPr lang="pt-BR" sz="2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2200" dirty="0">
                <a:solidFill>
                  <a:schemeClr val="accent6"/>
                </a:solidFill>
              </a:rPr>
              <a:t>Empresas podem pagar para: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aparecer primeiro;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promover produtos;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</a:rPr>
              <a:t>impulsionar categorias.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6366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485775"/>
          </a:xfrm>
        </p:spPr>
        <p:txBody>
          <a:bodyPr>
            <a:normAutofit fontScale="90000"/>
          </a:bodyPr>
          <a:lstStyle/>
          <a:p>
            <a:r>
              <a:rPr lang="pt-BR" sz="1100" b="1" dirty="0"/>
              <a:t>Política de Segurança</a:t>
            </a:r>
            <a:br>
              <a:rPr lang="pt-BR" sz="1100" b="1" dirty="0"/>
            </a:br>
            <a:r>
              <a:rPr lang="pt-BR" sz="1100" dirty="0"/>
              <a:t>Por segurança:</a:t>
            </a:r>
            <a:br>
              <a:rPr lang="pt-BR" sz="1100" dirty="0"/>
            </a:br>
            <a:r>
              <a:rPr lang="pt-BR" sz="1100" b="1" dirty="0"/>
              <a:t>A retirada deve ocorrer preferencialmente:</a:t>
            </a:r>
            <a:br>
              <a:rPr lang="pt-BR" sz="1100" b="1" dirty="0"/>
            </a:br>
            <a:r>
              <a:rPr lang="pt-BR" sz="1100" dirty="0"/>
              <a:t>no endereço cadastrado no sistema; </a:t>
            </a:r>
            <a:br>
              <a:rPr lang="pt-BR" sz="1100" dirty="0"/>
            </a:br>
            <a:br>
              <a:rPr lang="pt-BR" sz="1100" dirty="0"/>
            </a:br>
            <a:br>
              <a:rPr lang="pt-BR" sz="1100" dirty="0"/>
            </a:br>
            <a:br>
              <a:rPr lang="pt-BR" sz="1100" dirty="0"/>
            </a:br>
            <a:r>
              <a:rPr lang="pt-BR" sz="3600" b="1" dirty="0">
                <a:solidFill>
                  <a:schemeClr val="accent6"/>
                </a:solidFill>
              </a:rPr>
              <a:t>Assinatura Premium PJ</a:t>
            </a:r>
            <a:br>
              <a:rPr lang="pt-BR" sz="1600" b="1" dirty="0">
                <a:solidFill>
                  <a:schemeClr val="bg1"/>
                </a:solidFill>
              </a:rPr>
            </a:br>
            <a:br>
              <a:rPr lang="pt-BR" sz="2400" b="1" dirty="0">
                <a:solidFill>
                  <a:schemeClr val="bg1"/>
                </a:solidFill>
              </a:rPr>
            </a:br>
            <a:br>
              <a:rPr lang="pt-BR" sz="2400" b="1" dirty="0">
                <a:solidFill>
                  <a:schemeClr val="bg1"/>
                </a:solidFill>
              </a:rPr>
            </a:br>
            <a:br>
              <a:rPr lang="pt-BR" sz="2200" dirty="0">
                <a:solidFill>
                  <a:schemeClr val="accent6"/>
                </a:solidFill>
              </a:rPr>
            </a:br>
            <a:r>
              <a:rPr lang="pt-BR" sz="1100" dirty="0"/>
              <a:t>golpes; </a:t>
            </a:r>
            <a:br>
              <a:rPr lang="pt-BR" sz="1100" dirty="0"/>
            </a:br>
            <a:r>
              <a:rPr lang="pt-BR" sz="1100" dirty="0"/>
              <a:t>desvios de finalidade; </a:t>
            </a:r>
            <a:br>
              <a:rPr lang="pt-BR" sz="1100" dirty="0"/>
            </a:br>
            <a:r>
              <a:rPr lang="pt-BR" sz="1100" dirty="0"/>
              <a:t>riscos de furto; </a:t>
            </a:r>
            <a:br>
              <a:rPr lang="pt-BR" sz="1100" dirty="0"/>
            </a:br>
            <a:r>
              <a:rPr lang="pt-BR" sz="1100" dirty="0"/>
              <a:t>falsidade cadastral.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78FF00"/>
          </a:solidFill>
          <a:ln>
            <a:solidFill>
              <a:srgbClr val="7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spaço Reservado para Conteúdo 19">
            <a:extLst>
              <a:ext uri="{FF2B5EF4-FFF2-40B4-BE49-F238E27FC236}">
                <a16:creationId xmlns:a16="http://schemas.microsoft.com/office/drawing/2014/main" id="{1D6CE313-F203-4DF1-8834-73E6268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19174"/>
            <a:ext cx="8229600" cy="547687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sz="5000" dirty="0">
                <a:solidFill>
                  <a:schemeClr val="accent6"/>
                </a:solidFill>
              </a:rPr>
              <a:t>Lojas e empresas terão planos com:</a:t>
            </a:r>
          </a:p>
          <a:p>
            <a:pPr marL="0" indent="0">
              <a:buNone/>
            </a:pPr>
            <a:endParaRPr lang="pt-BR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/>
                </a:solidFill>
              </a:rPr>
              <a:t>maior quantidade de anúncios;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 err="1">
                <a:solidFill>
                  <a:schemeClr val="bg1"/>
                </a:solidFill>
              </a:rPr>
              <a:t>analytics</a:t>
            </a:r>
            <a:r>
              <a:rPr lang="pt-BR" sz="4000" dirty="0">
                <a:solidFill>
                  <a:schemeClr val="bg1"/>
                </a:solidFill>
              </a:rPr>
              <a:t>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/>
                </a:solidFill>
              </a:rPr>
              <a:t>vitrine personalizada;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/>
                </a:solidFill>
              </a:rPr>
              <a:t>integração de estoque. </a:t>
            </a:r>
          </a:p>
          <a:p>
            <a:r>
              <a:rPr lang="pt-BR" sz="4000" b="1" dirty="0">
                <a:solidFill>
                  <a:schemeClr val="bg1"/>
                </a:solidFill>
              </a:rPr>
              <a:t>Caso de Uso — Pessoa Física</a:t>
            </a:r>
          </a:p>
          <a:p>
            <a:r>
              <a:rPr lang="pt-BR" sz="4000" b="1" dirty="0">
                <a:solidFill>
                  <a:schemeClr val="bg1"/>
                </a:solidFill>
              </a:rPr>
              <a:t>Cenário</a:t>
            </a:r>
          </a:p>
          <a:p>
            <a:r>
              <a:rPr lang="pt-BR" sz="4000" dirty="0">
                <a:solidFill>
                  <a:schemeClr val="bg1"/>
                </a:solidFill>
              </a:rPr>
              <a:t>Carlos precisa instalar um suporte de TV.</a:t>
            </a:r>
          </a:p>
          <a:p>
            <a:r>
              <a:rPr lang="pt-BR" sz="4000" dirty="0">
                <a:solidFill>
                  <a:schemeClr val="bg1"/>
                </a:solidFill>
              </a:rPr>
              <a:t>Ele precisa 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/>
                </a:solidFill>
              </a:rPr>
              <a:t>furadeira;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/>
                </a:solidFill>
              </a:rPr>
              <a:t>brocas;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/>
                </a:solidFill>
              </a:rPr>
              <a:t>escada.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5502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485775"/>
          </a:xfrm>
        </p:spPr>
        <p:txBody>
          <a:bodyPr>
            <a:normAutofit fontScale="90000"/>
          </a:bodyPr>
          <a:lstStyle/>
          <a:p>
            <a:r>
              <a:rPr lang="pt-BR" sz="1100" b="1" dirty="0"/>
              <a:t>Política de Segurança</a:t>
            </a:r>
            <a:br>
              <a:rPr lang="pt-BR" sz="1100" b="1" dirty="0"/>
            </a:br>
            <a:r>
              <a:rPr lang="pt-BR" sz="1100" dirty="0"/>
              <a:t>Por segurança:</a:t>
            </a:r>
            <a:br>
              <a:rPr lang="pt-BR" sz="1100" dirty="0"/>
            </a:br>
            <a:r>
              <a:rPr lang="pt-BR" sz="1100" b="1" dirty="0"/>
              <a:t>A retirada deve ocorrer preferencialmente:</a:t>
            </a:r>
            <a:br>
              <a:rPr lang="pt-BR" sz="1100" b="1" dirty="0"/>
            </a:br>
            <a:r>
              <a:rPr lang="pt-BR" sz="1100" dirty="0"/>
              <a:t>no endereço cadastrado no sistema; </a:t>
            </a:r>
            <a:br>
              <a:rPr lang="pt-BR" sz="1100" dirty="0"/>
            </a:br>
            <a:br>
              <a:rPr lang="pt-BR" sz="1100" dirty="0"/>
            </a:br>
            <a:br>
              <a:rPr lang="pt-BR" sz="1100" dirty="0"/>
            </a:br>
            <a:br>
              <a:rPr lang="pt-BR" sz="1100" dirty="0"/>
            </a:br>
            <a:r>
              <a:rPr lang="pt-BR" sz="3600" b="1" dirty="0">
                <a:solidFill>
                  <a:schemeClr val="accent6"/>
                </a:solidFill>
              </a:rPr>
              <a:t>Assinatura Premium PJ</a:t>
            </a:r>
            <a:br>
              <a:rPr lang="pt-BR" sz="1600" b="1" dirty="0">
                <a:solidFill>
                  <a:schemeClr val="bg1"/>
                </a:solidFill>
              </a:rPr>
            </a:br>
            <a:br>
              <a:rPr lang="pt-BR" sz="2400" b="1" dirty="0">
                <a:solidFill>
                  <a:schemeClr val="bg1"/>
                </a:solidFill>
              </a:rPr>
            </a:br>
            <a:br>
              <a:rPr lang="pt-BR" sz="2400" b="1" dirty="0">
                <a:solidFill>
                  <a:schemeClr val="bg1"/>
                </a:solidFill>
              </a:rPr>
            </a:br>
            <a:br>
              <a:rPr lang="pt-BR" sz="2200" dirty="0">
                <a:solidFill>
                  <a:schemeClr val="accent6"/>
                </a:solidFill>
              </a:rPr>
            </a:br>
            <a:r>
              <a:rPr lang="pt-BR" sz="1100" dirty="0"/>
              <a:t>golpes; </a:t>
            </a:r>
            <a:br>
              <a:rPr lang="pt-BR" sz="1100" dirty="0"/>
            </a:br>
            <a:r>
              <a:rPr lang="pt-BR" sz="1100" dirty="0"/>
              <a:t>desvios de finalidade; </a:t>
            </a:r>
            <a:br>
              <a:rPr lang="pt-BR" sz="1100" dirty="0"/>
            </a:br>
            <a:r>
              <a:rPr lang="pt-BR" sz="1100" dirty="0"/>
              <a:t>riscos de furto; </a:t>
            </a:r>
            <a:br>
              <a:rPr lang="pt-BR" sz="1100" dirty="0"/>
            </a:br>
            <a:r>
              <a:rPr lang="pt-BR" sz="1100" dirty="0"/>
              <a:t>falsidade cadastral.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78FF00"/>
          </a:solidFill>
          <a:ln>
            <a:solidFill>
              <a:srgbClr val="7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spaço Reservado para Conteúdo 19">
            <a:extLst>
              <a:ext uri="{FF2B5EF4-FFF2-40B4-BE49-F238E27FC236}">
                <a16:creationId xmlns:a16="http://schemas.microsoft.com/office/drawing/2014/main" id="{1D6CE313-F203-4DF1-8834-73E6268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19174"/>
            <a:ext cx="8229600" cy="5476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>
                <a:solidFill>
                  <a:schemeClr val="accent6"/>
                </a:solidFill>
              </a:rPr>
              <a:t>Comprar tudo custaria mais de R$ 700.</a:t>
            </a:r>
          </a:p>
          <a:p>
            <a:pPr marL="0" indent="0">
              <a:buNone/>
            </a:pPr>
            <a:r>
              <a:rPr lang="pt-BR" sz="2800" dirty="0">
                <a:solidFill>
                  <a:schemeClr val="bg1"/>
                </a:solidFill>
              </a:rPr>
              <a:t>No SHARE</a:t>
            </a:r>
            <a:r>
              <a:rPr lang="pt-BR" sz="2800" dirty="0">
                <a:solidFill>
                  <a:schemeClr val="accent3"/>
                </a:solidFill>
              </a:rPr>
              <a:t>O</a:t>
            </a:r>
            <a:r>
              <a:rPr lang="pt-BR" sz="2800" dirty="0">
                <a:solidFill>
                  <a:schemeClr val="bg1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encontra os itens a 1,5 km;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aluga por R$ 45;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utiliza apenas no final de semana;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devolve ao proprietário. </a:t>
            </a:r>
          </a:p>
          <a:p>
            <a:r>
              <a:rPr lang="pt-BR" sz="2800" dirty="0">
                <a:solidFill>
                  <a:schemeClr val="bg1"/>
                </a:solidFill>
              </a:rPr>
              <a:t>Resultado: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economia financeira;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menor desperdício;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geração de renda local.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1908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485775"/>
          </a:xfrm>
        </p:spPr>
        <p:txBody>
          <a:bodyPr>
            <a:normAutofit fontScale="90000"/>
          </a:bodyPr>
          <a:lstStyle/>
          <a:p>
            <a:r>
              <a:rPr lang="pt-BR" sz="1100" b="1" dirty="0"/>
              <a:t>Política de Segurança</a:t>
            </a:r>
            <a:br>
              <a:rPr lang="pt-BR" sz="1100" b="1" dirty="0"/>
            </a:br>
            <a:r>
              <a:rPr lang="pt-BR" sz="1100" dirty="0"/>
              <a:t>Por segurança:</a:t>
            </a:r>
            <a:br>
              <a:rPr lang="pt-BR" sz="1100" dirty="0"/>
            </a:br>
            <a:r>
              <a:rPr lang="pt-BR" sz="1100" b="1" dirty="0"/>
              <a:t>A retirada deve ocorrer preferencialmente:</a:t>
            </a:r>
            <a:br>
              <a:rPr lang="pt-BR" sz="1100" b="1" dirty="0"/>
            </a:br>
            <a:r>
              <a:rPr lang="pt-BR" sz="1100" dirty="0"/>
              <a:t>no endereço cadastrado no sistema; </a:t>
            </a:r>
            <a:br>
              <a:rPr lang="pt-BR" sz="1100" dirty="0"/>
            </a:br>
            <a:br>
              <a:rPr lang="pt-BR" sz="1100" dirty="0"/>
            </a:br>
            <a:br>
              <a:rPr lang="pt-BR" sz="1100" dirty="0"/>
            </a:br>
            <a:br>
              <a:rPr lang="pt-BR" sz="1100" dirty="0"/>
            </a:br>
            <a:r>
              <a:rPr lang="pt-BR" sz="3600" b="1" dirty="0">
                <a:solidFill>
                  <a:schemeClr val="accent6"/>
                </a:solidFill>
              </a:rPr>
              <a:t>Assinatura Premium PJ</a:t>
            </a:r>
            <a:br>
              <a:rPr lang="pt-BR" sz="1600" b="1" dirty="0">
                <a:solidFill>
                  <a:schemeClr val="bg1"/>
                </a:solidFill>
              </a:rPr>
            </a:br>
            <a:br>
              <a:rPr lang="pt-BR" sz="2400" b="1" dirty="0">
                <a:solidFill>
                  <a:schemeClr val="bg1"/>
                </a:solidFill>
              </a:rPr>
            </a:br>
            <a:br>
              <a:rPr lang="pt-BR" sz="2400" b="1" dirty="0">
                <a:solidFill>
                  <a:schemeClr val="bg1"/>
                </a:solidFill>
              </a:rPr>
            </a:br>
            <a:br>
              <a:rPr lang="pt-BR" sz="2200" dirty="0">
                <a:solidFill>
                  <a:schemeClr val="accent6"/>
                </a:solidFill>
              </a:rPr>
            </a:br>
            <a:r>
              <a:rPr lang="pt-BR" sz="1100" dirty="0"/>
              <a:t>golpes; </a:t>
            </a:r>
            <a:br>
              <a:rPr lang="pt-BR" sz="1100" dirty="0"/>
            </a:br>
            <a:r>
              <a:rPr lang="pt-BR" sz="1100" dirty="0"/>
              <a:t>desvios de finalidade; </a:t>
            </a:r>
            <a:br>
              <a:rPr lang="pt-BR" sz="1100" dirty="0"/>
            </a:br>
            <a:r>
              <a:rPr lang="pt-BR" sz="1100" dirty="0"/>
              <a:t>riscos de furto; </a:t>
            </a:r>
            <a:br>
              <a:rPr lang="pt-BR" sz="1100" dirty="0"/>
            </a:br>
            <a:r>
              <a:rPr lang="pt-BR" sz="1100" dirty="0"/>
              <a:t>falsidade cadastral.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78FF00"/>
          </a:solidFill>
          <a:ln>
            <a:solidFill>
              <a:srgbClr val="7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spaço Reservado para Conteúdo 19">
            <a:extLst>
              <a:ext uri="{FF2B5EF4-FFF2-40B4-BE49-F238E27FC236}">
                <a16:creationId xmlns:a16="http://schemas.microsoft.com/office/drawing/2014/main" id="{1D6CE313-F203-4DF1-8834-73E6268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19174"/>
            <a:ext cx="8229600" cy="54768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800" b="1" dirty="0">
                <a:solidFill>
                  <a:schemeClr val="accent6"/>
                </a:solidFill>
              </a:rPr>
              <a:t>Caso de Uso — Pessoa Jurídica</a:t>
            </a:r>
          </a:p>
          <a:p>
            <a:pPr marL="0" indent="0">
              <a:buNone/>
            </a:pPr>
            <a:r>
              <a:rPr lang="pt-BR" sz="2800" b="1" dirty="0">
                <a:solidFill>
                  <a:schemeClr val="bg1"/>
                </a:solidFill>
              </a:rPr>
              <a:t>Loja de Material de Construção</a:t>
            </a:r>
          </a:p>
          <a:p>
            <a:pPr marL="0" indent="0">
              <a:buNone/>
            </a:pPr>
            <a:r>
              <a:rPr lang="pt-BR" sz="2800" dirty="0">
                <a:solidFill>
                  <a:schemeClr val="bg1"/>
                </a:solidFill>
              </a:rPr>
              <a:t>Uma loja possui equipamentos com baixo giro de venda.</a:t>
            </a:r>
          </a:p>
          <a:p>
            <a:pPr marL="0" indent="0">
              <a:buNone/>
            </a:pPr>
            <a:r>
              <a:rPr lang="pt-BR" sz="2800" dirty="0">
                <a:solidFill>
                  <a:schemeClr val="bg1"/>
                </a:solidFill>
              </a:rPr>
              <a:t>Exemplo: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compactadores;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marteletes;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serras elétricas. </a:t>
            </a:r>
          </a:p>
          <a:p>
            <a:pPr marL="0" indent="0">
              <a:buNone/>
            </a:pPr>
            <a:r>
              <a:rPr lang="pt-BR" sz="2800" dirty="0">
                <a:solidFill>
                  <a:schemeClr val="bg1"/>
                </a:solidFill>
              </a:rPr>
              <a:t>Ao cadastrar no SHARE</a:t>
            </a:r>
            <a:r>
              <a:rPr lang="pt-BR" sz="2800" dirty="0">
                <a:solidFill>
                  <a:schemeClr val="accent3"/>
                </a:solidFill>
              </a:rPr>
              <a:t>O</a:t>
            </a:r>
            <a:r>
              <a:rPr lang="pt-BR" sz="2800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r>
              <a:rPr lang="pt-BR" sz="2800" dirty="0">
                <a:solidFill>
                  <a:schemeClr val="bg1"/>
                </a:solidFill>
              </a:rPr>
              <a:t>transforma estoque parado em receita recorrente;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aumenta o fluxo de clientes;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monetiza ativos subutilizados.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6121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78FF00"/>
          </a:solidFill>
          <a:ln>
            <a:solidFill>
              <a:srgbClr val="7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spaço Reservado para Conteúdo 19">
            <a:extLst>
              <a:ext uri="{FF2B5EF4-FFF2-40B4-BE49-F238E27FC236}">
                <a16:creationId xmlns:a16="http://schemas.microsoft.com/office/drawing/2014/main" id="{1D6CE313-F203-4DF1-8834-73E6268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150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pt-BR" b="1" dirty="0">
              <a:solidFill>
                <a:schemeClr val="bg1"/>
              </a:solidFill>
            </a:endParaRPr>
          </a:p>
          <a:p>
            <a:r>
              <a:rPr lang="pt-BR" sz="2800" dirty="0">
                <a:solidFill>
                  <a:schemeClr val="bg1"/>
                </a:solidFill>
              </a:rPr>
              <a:t>Menor necessidade 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produção industrial;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extração de matéria-prima;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consumo energético.</a:t>
            </a:r>
          </a:p>
          <a:p>
            <a:pPr marL="0" indent="0">
              <a:buNone/>
            </a:pPr>
            <a:endParaRPr lang="pt-BR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2800" b="1" dirty="0">
                <a:solidFill>
                  <a:schemeClr val="accent6"/>
                </a:solidFill>
              </a:rPr>
              <a:t>Proximidade</a:t>
            </a:r>
          </a:p>
          <a:p>
            <a:pPr marL="0" indent="0">
              <a:buNone/>
            </a:pPr>
            <a:endParaRPr lang="pt-BR" sz="2800" b="1" dirty="0">
              <a:solidFill>
                <a:schemeClr val="bg1"/>
              </a:solidFill>
            </a:endParaRPr>
          </a:p>
          <a:p>
            <a:r>
              <a:rPr lang="pt-BR" sz="2800" dirty="0">
                <a:solidFill>
                  <a:schemeClr val="bg1"/>
                </a:solidFill>
              </a:rPr>
              <a:t>Foco em aluguel local.</a:t>
            </a:r>
          </a:p>
          <a:p>
            <a:r>
              <a:rPr lang="pt-BR" sz="2800" dirty="0">
                <a:solidFill>
                  <a:schemeClr val="bg1"/>
                </a:solidFill>
              </a:rPr>
              <a:t>Menor: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frete;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emissão de CO₂;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tempo de entrega. </a:t>
            </a:r>
          </a:p>
          <a:p>
            <a:endParaRPr lang="pt-BR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4DEA3A9A-E6F7-4006-A3E2-3D3DF217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7305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accent6"/>
                </a:solidFill>
              </a:rPr>
              <a:t>Sustentabilidade</a:t>
            </a:r>
            <a:br>
              <a:rPr lang="pt-BR" b="1" dirty="0">
                <a:solidFill>
                  <a:schemeClr val="bg1"/>
                </a:solidFill>
              </a:rPr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8651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78FF00"/>
          </a:solidFill>
          <a:ln>
            <a:solidFill>
              <a:srgbClr val="7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spaço Reservado para Conteúdo 19">
            <a:extLst>
              <a:ext uri="{FF2B5EF4-FFF2-40B4-BE49-F238E27FC236}">
                <a16:creationId xmlns:a16="http://schemas.microsoft.com/office/drawing/2014/main" id="{1D6CE313-F203-4DF1-8834-73E6268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733424"/>
            <a:ext cx="8096250" cy="5762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800" b="1" dirty="0">
              <a:solidFill>
                <a:schemeClr val="bg1"/>
              </a:solidFill>
            </a:endParaRPr>
          </a:p>
          <a:p>
            <a:r>
              <a:rPr lang="pt-BR" sz="2800" b="1" dirty="0">
                <a:solidFill>
                  <a:schemeClr val="bg1"/>
                </a:solidFill>
              </a:rPr>
              <a:t>Funcionalidades Essenciais</a:t>
            </a:r>
          </a:p>
          <a:p>
            <a:r>
              <a:rPr lang="pt-BR" sz="2800" b="1" dirty="0">
                <a:solidFill>
                  <a:schemeClr val="bg1"/>
                </a:solidFill>
              </a:rPr>
              <a:t>Usuário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Cadastro/login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Geolocalização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Busca por categoria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Cadastro de itens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Chat via WhatsApp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Avaliações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Favoritos</a:t>
            </a:r>
          </a:p>
          <a:p>
            <a:endParaRPr lang="pt-BR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4DEA3A9A-E6F7-4006-A3E2-3D3DF217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-133350"/>
            <a:ext cx="8229600" cy="1219200"/>
          </a:xfrm>
        </p:spPr>
        <p:txBody>
          <a:bodyPr>
            <a:normAutofit fontScale="90000"/>
          </a:bodyPr>
          <a:lstStyle/>
          <a:p>
            <a:br>
              <a:rPr lang="pt-BR" b="1" dirty="0">
                <a:solidFill>
                  <a:schemeClr val="bg1"/>
                </a:solidFill>
              </a:rPr>
            </a:br>
            <a:r>
              <a:rPr lang="pt-BR" sz="3600" b="1" dirty="0">
                <a:solidFill>
                  <a:schemeClr val="accent6"/>
                </a:solidFill>
              </a:rPr>
              <a:t>MVP — Primeira Versão</a:t>
            </a:r>
            <a:br>
              <a:rPr lang="pt-BR" sz="4400" b="1" dirty="0">
                <a:solidFill>
                  <a:schemeClr val="bg1"/>
                </a:solidFill>
              </a:rPr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6759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78FF00"/>
          </a:solidFill>
          <a:ln>
            <a:solidFill>
              <a:srgbClr val="7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spaço Reservado para Conteúdo 19">
            <a:extLst>
              <a:ext uri="{FF2B5EF4-FFF2-40B4-BE49-F238E27FC236}">
                <a16:creationId xmlns:a16="http://schemas.microsoft.com/office/drawing/2014/main" id="{1D6CE313-F203-4DF1-8834-73E6268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733424"/>
            <a:ext cx="8096250" cy="5762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800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Posicionamento Estratégico</a:t>
            </a:r>
          </a:p>
          <a:p>
            <a:r>
              <a:rPr lang="pt-BR" dirty="0">
                <a:solidFill>
                  <a:schemeClr val="bg1"/>
                </a:solidFill>
              </a:rPr>
              <a:t>O SHAREO pode se tornar: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o “</a:t>
            </a:r>
            <a:r>
              <a:rPr lang="pt-BR" dirty="0" err="1">
                <a:solidFill>
                  <a:schemeClr val="bg1"/>
                </a:solidFill>
              </a:rPr>
              <a:t>Airbnb</a:t>
            </a:r>
            <a:r>
              <a:rPr lang="pt-BR" dirty="0">
                <a:solidFill>
                  <a:schemeClr val="bg1"/>
                </a:solidFill>
              </a:rPr>
              <a:t> dos objetos”;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o maior </a:t>
            </a:r>
            <a:r>
              <a:rPr lang="pt-BR" dirty="0" err="1">
                <a:solidFill>
                  <a:schemeClr val="bg1"/>
                </a:solidFill>
              </a:rPr>
              <a:t>marketplace</a:t>
            </a:r>
            <a:r>
              <a:rPr lang="pt-BR" dirty="0">
                <a:solidFill>
                  <a:schemeClr val="bg1"/>
                </a:solidFill>
              </a:rPr>
              <a:t> de aluguel local do mundo;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referência em economia circular. 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endParaRPr lang="pt-BR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4DEA3A9A-E6F7-4006-A3E2-3D3DF217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-1"/>
            <a:ext cx="8229600" cy="1314451"/>
          </a:xfrm>
        </p:spPr>
        <p:txBody>
          <a:bodyPr>
            <a:normAutofit fontScale="90000"/>
          </a:bodyPr>
          <a:lstStyle/>
          <a:p>
            <a:br>
              <a:rPr lang="pt-BR" b="1" dirty="0">
                <a:solidFill>
                  <a:schemeClr val="bg1"/>
                </a:solidFill>
              </a:rPr>
            </a:br>
            <a:r>
              <a:rPr lang="pt-BR" sz="4400" b="1" dirty="0">
                <a:solidFill>
                  <a:schemeClr val="accent6"/>
                </a:solidFill>
              </a:rPr>
              <a:t>Admin</a:t>
            </a:r>
            <a:br>
              <a:rPr lang="pt-BR" sz="4400" b="1" dirty="0">
                <a:solidFill>
                  <a:schemeClr val="bg1"/>
                </a:solidFill>
              </a:rPr>
            </a:br>
            <a:br>
              <a:rPr lang="pt-BR" sz="4400" b="1" dirty="0">
                <a:solidFill>
                  <a:schemeClr val="bg1"/>
                </a:solidFill>
              </a:rPr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3513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78FF00"/>
          </a:solidFill>
          <a:ln>
            <a:solidFill>
              <a:srgbClr val="7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spaço Reservado para Conteúdo 19">
            <a:extLst>
              <a:ext uri="{FF2B5EF4-FFF2-40B4-BE49-F238E27FC236}">
                <a16:creationId xmlns:a16="http://schemas.microsoft.com/office/drawing/2014/main" id="{1D6CE313-F203-4DF1-8834-73E6268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114425"/>
            <a:ext cx="8096250" cy="538162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800" b="1" dirty="0">
              <a:solidFill>
                <a:schemeClr val="bg1"/>
              </a:solidFill>
            </a:endParaRPr>
          </a:p>
          <a:p>
            <a:r>
              <a:rPr lang="pt-BR" dirty="0"/>
              <a:t>Mensagem Institucional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4DEA3A9A-E6F7-4006-A3E2-3D3DF217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23875"/>
            <a:ext cx="8229600" cy="790575"/>
          </a:xfrm>
        </p:spPr>
        <p:txBody>
          <a:bodyPr>
            <a:normAutofit fontScale="90000"/>
          </a:bodyPr>
          <a:lstStyle/>
          <a:p>
            <a:br>
              <a:rPr lang="pt-BR" b="1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accent6"/>
                </a:solidFill>
              </a:rPr>
              <a:t>Mensagem Institucional</a:t>
            </a:r>
            <a:br>
              <a:rPr lang="pt-BR" sz="4400" b="1" dirty="0">
                <a:solidFill>
                  <a:schemeClr val="bg1"/>
                </a:solidFill>
              </a:rPr>
            </a:br>
            <a:br>
              <a:rPr lang="pt-BR" sz="4400" b="1" dirty="0">
                <a:solidFill>
                  <a:schemeClr val="bg1"/>
                </a:solidFill>
              </a:rPr>
            </a:b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0CC7AB3-8F3E-494B-9B47-B97B86D45B14}"/>
              </a:ext>
            </a:extLst>
          </p:cNvPr>
          <p:cNvSpPr txBox="1"/>
          <p:nvPr/>
        </p:nvSpPr>
        <p:spPr>
          <a:xfrm>
            <a:off x="1162050" y="1781591"/>
            <a:ext cx="745807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rgbClr val="92D050"/>
                </a:solidFill>
              </a:rPr>
              <a:t>O mundo não precisa produzir mais coisas, precisa utilizar melhor aquilo que já existe.</a:t>
            </a:r>
          </a:p>
          <a:p>
            <a:pPr algn="ctr"/>
            <a:endParaRPr lang="pt-BR" sz="4400" dirty="0">
              <a:solidFill>
                <a:srgbClr val="92D050"/>
              </a:solidFill>
            </a:endParaRPr>
          </a:p>
          <a:p>
            <a:pPr algn="ctr"/>
            <a:endParaRPr lang="pt-BR" sz="4400" dirty="0">
              <a:solidFill>
                <a:srgbClr val="92D050"/>
              </a:solidFill>
            </a:endParaRPr>
          </a:p>
        </p:txBody>
      </p:sp>
      <p:pic>
        <p:nvPicPr>
          <p:cNvPr id="9" name="Picture 5" descr="image(26).png">
            <a:extLst>
              <a:ext uri="{FF2B5EF4-FFF2-40B4-BE49-F238E27FC236}">
                <a16:creationId xmlns:a16="http://schemas.microsoft.com/office/drawing/2014/main" id="{BD8E396E-25DD-4E44-AE8D-0C5D46751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906" y="4261349"/>
            <a:ext cx="2184187" cy="223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45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1155</Words>
  <Application>Microsoft Office PowerPoint</Application>
  <PresentationFormat>Apresentação na tela (4:3)</PresentationFormat>
  <Paragraphs>274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Montserrat</vt:lpstr>
      <vt:lpstr>Office Theme</vt:lpstr>
      <vt:lpstr>SHAREO</vt:lpstr>
      <vt:lpstr>Visão Geral</vt:lpstr>
      <vt:lpstr>O projeto promove </vt:lpstr>
      <vt:lpstr>Slogan Conceitual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Busca Inteligente por Proximidade</vt:lpstr>
      <vt:lpstr>Busca Inteligente por Proximidade</vt:lpstr>
      <vt:lpstr>Política de Segurança Por segurança: A retirada deve ocorrer preferencialmente: no endereço cadastrado no sistema;  Política de Segurança  golpes;  desvios de finalidade;  riscos de furto;  falsidade cadastral.</vt:lpstr>
      <vt:lpstr>Política de Segurança Por segurança: A retirada deve ocorrer preferencialmente: no endereço cadastrado no sistema;  Sistema de Seguro  golpes;  desvios de finalidade;  riscos de furto;  falsidade cadastral.</vt:lpstr>
      <vt:lpstr>Política de Segurança Por segurança: A retirada deve ocorrer preferencialmente: no endereço cadastrado no sistema;     Modelo de Negócio   golpes;  desvios de finalidade;  riscos de furto;  falsidade cadastral.</vt:lpstr>
      <vt:lpstr>Política de Segurança Por segurança: A retirada deve ocorrer preferencialmente: no endereço cadastrado no sistema;     Assinatura Premium PJ    golpes;  desvios de finalidade;  riscos de furto;  falsidade cadastral.</vt:lpstr>
      <vt:lpstr>Política de Segurança Por segurança: A retirada deve ocorrer preferencialmente: no endereço cadastrado no sistema;     Assinatura Premium PJ    golpes;  desvios de finalidade;  riscos de furto;  falsidade cadastral.</vt:lpstr>
      <vt:lpstr>Política de Segurança Por segurança: A retirada deve ocorrer preferencialmente: no endereço cadastrado no sistema;     Assinatura Premium PJ    golpes;  desvios de finalidade;  riscos de furto;  falsidade cadastral.</vt:lpstr>
      <vt:lpstr>Sustentabilidade </vt:lpstr>
      <vt:lpstr> MVP — Primeira Versão </vt:lpstr>
      <vt:lpstr> Admin  </vt:lpstr>
      <vt:lpstr> Mensagem Institucional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SHAREO</dc:title>
  <dc:subject/>
  <dc:creator/>
  <cp:keywords/>
  <dc:description>generated using python-pptx</dc:description>
  <cp:lastModifiedBy>Raimundo</cp:lastModifiedBy>
  <cp:revision>4</cp:revision>
  <dcterms:created xsi:type="dcterms:W3CDTF">2013-01-27T09:14:16Z</dcterms:created>
  <dcterms:modified xsi:type="dcterms:W3CDTF">2026-05-09T08:33:45Z</dcterms:modified>
  <cp:category/>
</cp:coreProperties>
</file>